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>
            <a:normAutofit/>
          </a:bodyPr>
          <a:lstStyle>
            <a:lvl1pPr algn="ctr">
              <a:buNone/>
              <a:defRPr sz="3800">
                <a:solidFill>
                  <a:srgbClr val="262626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3EBE3-8264-4FE8-925F-3080D4E5EEC0}" type="datetime1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>
            <a:normAutofit/>
          </a:bodyPr>
          <a:lstStyle>
            <a:lvl1pPr>
              <a:buNone/>
              <a:defRPr sz="3800">
                <a:solidFill>
                  <a:srgbClr val="262626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B90EB0-855B-4A56-B658-B8A8035DCEC3}" type="datetime1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0" name="Slide Number 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buNone/>
              <a:defRPr/>
            </a:lvl5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idx="13"/>
          </p:nvPr>
        </p:nvSpPr>
        <p:spPr>
          <a:xfrm>
            <a:off x="6338316" y="2313433"/>
            <a:ext cx="4270248" cy="704087"/>
          </a:xfrm>
        </p:spPr>
        <p:txBody>
          <a:bodyPr anchor="b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957784-BFF0-4202-BB5E-594DE6CE23F2}" type="datetime1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BD3EF8-3A4B-4346-876A-8B23F47903D2}" type="datetime1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6" name="Rectangle 25"/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>
            <a:normAutofit/>
          </a:bodyPr>
          <a:lstStyle>
            <a:lvl1pPr>
              <a:buNone/>
              <a:defRPr sz="2200">
                <a:solidFill>
                  <a:srgbClr val="262626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buNone/>
              <a:defRPr sz="1900">
                <a:solidFill>
                  <a:schemeClr val="tx1"/>
                </a:solidFill>
              </a:defRPr>
            </a:lvl1pPr>
            <a:lvl2pPr>
              <a:buNone/>
              <a:defRPr sz="1600">
                <a:solidFill>
                  <a:schemeClr val="tx1"/>
                </a:solidFill>
              </a:defRPr>
            </a:lvl2pPr>
            <a:lvl3pPr>
              <a:buNone/>
              <a:defRPr sz="1600">
                <a:solidFill>
                  <a:schemeClr val="tx1"/>
                </a:solidFill>
              </a:defRPr>
            </a:lvl3pPr>
            <a:lvl4pPr>
              <a:buNone/>
              <a:defRPr sz="1600">
                <a:solidFill>
                  <a:schemeClr val="tx1"/>
                </a:solidFill>
              </a:defRPr>
            </a:lvl4pPr>
            <a:lvl5pPr>
              <a:buNone/>
              <a:defRPr sz="1600">
                <a:solidFill>
                  <a:schemeClr val="tx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buNone/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>
            <a:noAutofit/>
          </a:bodyPr>
          <a:lstStyle>
            <a:lvl1pPr>
              <a:buNone/>
              <a:defRPr sz="2200">
                <a:solidFill>
                  <a:srgbClr val="262626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4313149-2F49-4165-8BA6-A18DF207A193}" type="datetime1">
              <a:rPr/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buNone/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/>
        </p:txBody>
      </p:sp>
      <p:sp>
        <p:nvSpPr>
          <p:cNvPr id="10" name="Slide Number 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lIns="182880" tIns="182880" rIns="182880" bIns="18288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anchor="ctr">
            <a:noAutofit/>
          </a:bodyPr>
          <a:lstStyle>
            <a:lvl1pPr algn="ctr">
              <a:buNone/>
              <a:defRPr sz="1100" spc="0" baseline="0">
                <a:solidFill>
                  <a:srgbClr val="FFFFFF"/>
                </a:solidFill>
              </a:defRPr>
            </a:lvl1pPr>
          </a:lstStyle>
          <a:p>
            <a:fld id="{02B819DD-EF02-491D-87CC-F9716E9DCF1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1pPr>
      <a:lvl2pPr marL="45720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2pPr>
      <a:lvl3pPr marL="68580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3pPr>
      <a:lvl4pPr marL="91440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4pPr>
      <a:lvl5pPr marL="114300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5pPr>
      <a:lvl6pPr marL="131318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48463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657350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 baseline="0">
          <a:solidFill>
            <a:schemeClr val="tx1"/>
          </a:solidFill>
          <a:latin typeface="+mn-lt"/>
          <a:ea typeface="+mn-lt"/>
          <a:cs typeface="+mn-lt"/>
        </a:defRPr>
      </a:lvl8pPr>
      <a:lvl9pPr marL="1882775" indent="-228600" algn="l" defTabSz="914400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/>
        <a:buChar char="•"/>
        <a:defRPr sz="1600" kern="1200" baseline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3021" y="1982561"/>
            <a:ext cx="8915399" cy="2262781"/>
          </a:xfrm>
        </p:spPr>
        <p:txBody>
          <a:bodyPr>
            <a:normAutofit fontScale="72793"/>
          </a:bodyPr>
          <a:lstStyle/>
          <a:p>
            <a:pPr algn="ctr">
              <a:buNone/>
            </a:pPr>
            <a:r>
              <a:rPr>
                <a:solidFill>
                  <a:srgbClr val="703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FarmEazy</a:t>
            </a:r>
            <a:endParaRPr sz="3600">
              <a:solidFill>
                <a:srgbClr val="703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</a:pPr>
            <a:r>
              <a:rPr>
                <a:solidFill>
                  <a:srgbClr val="703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Presentation</a:t>
            </a:r>
            <a:endParaRPr sz="3600">
              <a:solidFill>
                <a:srgbClr val="703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</a:pPr>
            <a:r>
              <a:rPr>
                <a:solidFill>
                  <a:srgbClr val="703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sz="3600">
              <a:solidFill>
                <a:srgbClr val="703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</a:pPr>
            <a:r>
              <a:rPr>
                <a:solidFill>
                  <a:srgbClr val="703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Topic: Farm Machinery Rental Marketplace</a:t>
            </a:r>
            <a:endParaRPr sz="3600">
              <a:solidFill>
                <a:srgbClr val="703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23098" y="4529717"/>
            <a:ext cx="4849741" cy="1353558"/>
          </a:xfrm>
        </p:spPr>
        <p:txBody>
          <a:bodyPr>
            <a:noAutofit/>
          </a:bodyPr>
          <a:lstStyle/>
          <a:p>
            <a:r>
              <a:rPr sz="2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By:</a:t>
            </a:r>
            <a:endParaRPr sz="2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r>
              <a:rPr sz="2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FarmEazy Core Team</a:t>
            </a:r>
            <a:endParaRPr sz="2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r>
              <a:rPr sz="2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Agri-Tech &amp; Mobility</a:t>
            </a:r>
            <a:endParaRPr sz="2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r>
              <a:rPr sz="2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AKGEC Ghaziabad</a:t>
            </a:r>
            <a:endParaRPr sz="2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D431B5-5CA0-4DD5-8ADC-49591F351C64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388502" y="21984"/>
            <a:ext cx="2244436" cy="167620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Outline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3641" lnSpcReduction="10000"/>
          </a:bodyPr>
          <a:lstStyle/>
          <a:p>
            <a:r>
              <a:rPr sz="2800"/>
              <a:t>Introduction &amp; Domain Overview</a:t>
            </a:r>
            <a:endParaRPr sz="2800"/>
          </a:p>
          <a:p>
            <a:r>
              <a:rPr sz="2800"/>
              <a:t>Problem Statement &amp; Objectives</a:t>
            </a:r>
            <a:endParaRPr sz="2800"/>
          </a:p>
          <a:p>
            <a:r>
              <a:rPr sz="2800"/>
              <a:t>Methodology &amp; System Architecture</a:t>
            </a:r>
            <a:endParaRPr sz="2800"/>
          </a:p>
          <a:p>
            <a:r>
              <a:rPr sz="2800"/>
              <a:t>Implementation &amp; Technical Tools</a:t>
            </a:r>
            <a:endParaRPr sz="2800"/>
          </a:p>
          <a:p>
            <a:r>
              <a:rPr sz="2800"/>
              <a:t>Experiments and Results</a:t>
            </a:r>
            <a:endParaRPr sz="2800"/>
          </a:p>
          <a:p>
            <a:r>
              <a:rPr sz="2800"/>
              <a:t>Conclusion and Future Scope</a:t>
            </a:r>
            <a:endParaRPr sz="2800"/>
          </a:p>
          <a:p>
            <a:r>
              <a:rPr sz="2800"/>
              <a:t>References</a:t>
            </a:r>
            <a:endParaRPr sz="280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690B04-9E24-454C-B0F9-E577D591EBB3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-38224"/>
            <a:ext cx="7729728" cy="762509"/>
          </a:xfrm>
        </p:spPr>
        <p:txBody>
          <a:bodyPr/>
          <a:lstStyle/>
          <a:p>
            <a:r>
              <a:rPr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Introduction</a:t>
            </a:r>
            <a:endParaRPr b="1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690B04-9E24-454C-B0F9-E577D591EBB3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01599" y="1529080"/>
            <a:ext cx="11319933" cy="4871720"/>
          </a:xfrm>
        </p:spPr>
        <p:txBody>
          <a:bodyPr>
            <a:normAutofit/>
          </a:bodyPr>
          <a:lstStyle/>
          <a:p>
            <a:r>
              <a:t>FarmEazy is an on-demand farm machinery rental marketplace for Indian farmers.</a:t>
            </a:r>
          </a:p>
          <a:p/>
          <a:p>
            <a:r>
              <a:t>The platform connects farmers who need tractors and specialized equipment with machine owners who have idle capacity.</a:t>
            </a:r>
          </a:p>
          <a:p/>
          <a:p>
            <a:r>
              <a:t>It combines mobile booking, transparent pricing, verified operators, live GPS tracking, community machine pooling, fuel estimation, and AI-assisted crop diagnostics.</a:t>
            </a:r>
          </a:p>
          <a:p/>
          <a:p>
            <a:r>
              <a:t>Domain: Agri-tech, rural mobility, and agricultural mechanization.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95216"/>
            <a:ext cx="7729728" cy="567775"/>
          </a:xfrm>
        </p:spPr>
        <p:txBody>
          <a:bodyPr>
            <a:normAutofit fontScale="52601"/>
          </a:bodyPr>
          <a:lstStyle/>
          <a:p>
            <a:r>
              <a:t>Problem Statement &amp; Objectives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799" y="1346200"/>
            <a:ext cx="11319933" cy="4871720"/>
          </a:xfrm>
        </p:spPr>
        <p:txBody>
          <a:bodyPr>
            <a:normAutofit/>
          </a:bodyPr>
          <a:lstStyle/>
          <a:p>
            <a:r>
              <a:t>Problem statement</a:t>
            </a:r>
          </a:p>
          <a:p>
            <a:r>
              <a:t>Smallholder farmers face high machinery purchase costs and seasonal labour shortages.</a:t>
            </a:r>
          </a:p>
          <a:p>
            <a:r>
              <a:t>Equipment is often unavailable during critical 7–10 day sowing and harvesting windows.</a:t>
            </a:r>
          </a:p>
          <a:p>
            <a:r>
              <a:t>More than 40% of tractors can remain idle outside peak cycles, while owners lack a reliable demand channel.</a:t>
            </a:r>
          </a:p>
          <a:p/>
          <a:p>
            <a:r>
              <a:t>Objectives</a:t>
            </a:r>
          </a:p>
          <a:p>
            <a:r>
              <a:t>Make equipment discovery and booking simple and transparent.</a:t>
            </a:r>
          </a:p>
          <a:p>
            <a:r>
              <a:t>Improve machine utilization and owner income.</a:t>
            </a:r>
          </a:p>
          <a:p>
            <a:r>
              <a:t>Reduce delays through live dispatch visibility and verified operators.</a:t>
            </a:r>
          </a:p>
          <a:p>
            <a:r>
              <a:t>Support shared bookings through community machine pooling.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36" y="106680"/>
            <a:ext cx="11166764" cy="542984"/>
          </a:xfrm>
        </p:spPr>
        <p:txBody>
          <a:bodyPr>
            <a:noAutofit/>
          </a:bodyPr>
          <a:lstStyle/>
          <a:p>
            <a:r>
              <a:rPr sz="3200"/>
              <a:t>Methodology &amp; System Architecture</a:t>
            </a:r>
            <a:endParaRPr sz="320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58799" y="1346200"/>
            <a:ext cx="11319933" cy="4871720"/>
          </a:xfrm>
        </p:spPr>
        <p:txBody>
          <a:bodyPr>
            <a:normAutofit/>
          </a:bodyPr>
          <a:lstStyle/>
          <a:p>
            <a:r>
              <a:t>Methodology</a:t>
            </a:r>
          </a:p>
          <a:p>
            <a:r>
              <a:t>1. Farmer searches by equipment type, horsepower, attachment, location, and rate.</a:t>
            </a:r>
          </a:p>
          <a:p>
            <a:r>
              <a:t>2. Owner receives the request and confirms availability.</a:t>
            </a:r>
          </a:p>
          <a:p>
            <a:r>
              <a:t>3. Operator dispatches the machine and shares live trip status.</a:t>
            </a:r>
          </a:p>
          <a:p>
            <a:r>
              <a:t>4. Work completion is verified before payment settlement.</a:t>
            </a:r>
          </a:p>
          <a:p/>
          <a:p>
            <a:r>
              <a:t>System architecture</a:t>
            </a:r>
          </a:p>
          <a:p>
            <a:r>
              <a:t>Farmer / Owner mobile interface → Node.js + Express REST API → SQLite data layer</a:t>
            </a:r>
          </a:p>
          <a:p>
            <a:r>
              <a:t>Supporting services: authentication, rate limiting, GPS telemetry, fuel estimation, mandi rates, weather alerts, and crop diagnostics.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36" y="106680"/>
            <a:ext cx="11166764" cy="873760"/>
          </a:xfrm>
        </p:spPr>
        <p:txBody>
          <a:bodyPr>
            <a:noAutofit/>
          </a:bodyPr>
          <a:lstStyle/>
          <a:p>
            <a:r>
              <a:rPr sz="3200"/>
              <a:t>Implementation &amp; Technical Tools</a:t>
            </a:r>
            <a:endParaRPr sz="320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58799" y="1346200"/>
            <a:ext cx="11319933" cy="4871720"/>
          </a:xfrm>
        </p:spPr>
        <p:txBody>
          <a:bodyPr>
            <a:normAutofit fontScale="91311"/>
          </a:bodyPr>
          <a:lstStyle/>
          <a:p>
            <a:r>
              <a:t>Frontend</a:t>
            </a:r>
          </a:p>
          <a:p>
            <a:r>
              <a:t>Vanilla HTML5, responsive CSS, glassmorphism design system, and JavaScript single-page controllers.</a:t>
            </a:r>
          </a:p>
          <a:p/>
          <a:p>
            <a:r>
              <a:t>Backend</a:t>
            </a:r>
          </a:p>
          <a:p>
            <a:r>
              <a:t>Node.js with Express.js REST API.</a:t>
            </a:r>
          </a:p>
          <a:p>
            <a:r>
              <a:t>Helmet security hardening, session-cookie authentication, and rate limiting.</a:t>
            </a:r>
          </a:p>
          <a:p/>
          <a:p>
            <a:r>
              <a:t>Database and intelligence</a:t>
            </a:r>
          </a:p>
          <a:p>
            <a:r>
              <a:t>SQLite with isolated storage, bcrypt credential hashing, and foreign-key role separation.</a:t>
            </a:r>
          </a:p>
          <a:p>
            <a:r>
              <a:t>APMC mandi rates, agro-weather alerts, diesel estimation, and rule-based crop diagnosis.</a:t>
            </a:r>
          </a:p>
          <a:p/>
          <a:p>
            <a:r>
              <a:t>Operational workflow states</a:t>
            </a:r>
          </a:p>
          <a:p>
            <a:r>
              <a:t>Confirmed → Accepted → On the Way → Work in Progress → 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36" y="106680"/>
            <a:ext cx="11166764" cy="873760"/>
          </a:xfrm>
        </p:spPr>
        <p:txBody>
          <a:bodyPr>
            <a:noAutofit/>
          </a:bodyPr>
          <a:lstStyle/>
          <a:p>
            <a:r>
              <a:rPr sz="3200"/>
              <a:t>Experiments and Results</a:t>
            </a:r>
            <a:endParaRPr sz="320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58799" y="1346200"/>
            <a:ext cx="11319933" cy="4871720"/>
          </a:xfrm>
        </p:spPr>
        <p:txBody>
          <a:bodyPr>
            <a:normAutofit/>
          </a:bodyPr>
          <a:lstStyle/>
          <a:p>
            <a:r>
              <a:t>Product experiments</a:t>
            </a:r>
          </a:p>
          <a:p>
            <a:r>
              <a:t>Live GPS Radar shows tractor position, speed, distance, diesel level, and estimated arrival time.</a:t>
            </a:r>
          </a:p>
          <a:p>
            <a:r>
              <a:t>Farm Pooling groups nearby fields to share mobilization overhead.</a:t>
            </a:r>
          </a:p>
          <a:p>
            <a:r>
              <a:t>Smart Fuel Estimator uses crop, acreage, and soil texture to estimate machine hours and diesel use.</a:t>
            </a:r>
          </a:p>
          <a:p>
            <a:r>
              <a:t>AI Crop Doctor provides rule-based guidance from selected leaf symptoms.</a:t>
            </a:r>
          </a:p>
          <a:p/>
          <a:p>
            <a:r>
              <a:t>Reported outcomes</a:t>
            </a:r>
          </a:p>
          <a:p>
            <a:r>
              <a:t>30% tillage and sowing cost reduction</a:t>
            </a:r>
          </a:p>
          <a:p>
            <a:r>
              <a:t>15-minute average booking response time</a:t>
            </a:r>
          </a:p>
          <a:p>
            <a:r>
              <a:t>₹38,400 average monthly machine-owner revenue</a:t>
            </a:r>
          </a:p>
          <a:p>
            <a:r>
              <a:t>100% verified drivers and field quality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6680"/>
            <a:ext cx="11984182" cy="873760"/>
          </a:xfrm>
        </p:spPr>
        <p:txBody>
          <a:bodyPr>
            <a:noAutofit/>
          </a:bodyPr>
          <a:lstStyle/>
          <a:p>
            <a:r>
              <a:rPr sz="3200"/>
              <a:t>Conclusion and Future Scope</a:t>
            </a:r>
            <a:endParaRPr sz="320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58799" y="1346200"/>
            <a:ext cx="11319933" cy="4871720"/>
          </a:xfrm>
        </p:spPr>
        <p:txBody>
          <a:bodyPr>
            <a:normAutofit/>
          </a:bodyPr>
          <a:lstStyle/>
          <a:p>
            <a:r>
              <a:t>Conclusion</a:t>
            </a:r>
          </a:p>
          <a:p>
            <a:r>
              <a:t>FarmEazy addresses the access, utilization, and trust gaps in agricultural mechanization through a two-sided marketplace with operational visibility.</a:t>
            </a:r>
          </a:p>
          <a:p/>
          <a:p>
            <a:r>
              <a:t>Future scope</a:t>
            </a:r>
          </a:p>
          <a:p>
            <a:r>
              <a:t>• Automated UPI escrow payments</a:t>
            </a:r>
          </a:p>
          <a:p>
            <a:r>
              <a:t>• IoT fuel-tank sensors for anti-theft monitoring</a:t>
            </a:r>
          </a:p>
          <a:p>
            <a:r>
              <a:t>• Hindi, Punjabi, and Haryanvi voice-based booking</a:t>
            </a:r>
          </a:p>
          <a:p>
            <a:r>
              <a:t>• Satellite NDVI crop-yield mapping</a:t>
            </a:r>
          </a:p>
          <a:p>
            <a:r>
              <a:t>• Wider regional rollout through verified machine-owner hubs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101092"/>
            <a:ext cx="7729728" cy="601641"/>
          </a:xfrm>
        </p:spPr>
        <p:txBody>
          <a:bodyPr>
            <a:normAutofit fontScale="53742"/>
          </a:bodyPr>
          <a:lstStyle/>
          <a:p>
            <a:r>
              <a:rPr sz="3200" b="1" i="0" u="none" strike="noStrike" cap="none" spc="0" baseline="0">
                <a:ln>
                  <a:noFill/>
                </a:ln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REFERENCES</a:t>
            </a:r>
            <a:endParaRPr sz="3200" b="1" i="0" u="none" strike="noStrike" cap="none" spc="0" baseline="0">
              <a:ln>
                <a:noFill/>
              </a:ln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67" y="1075267"/>
            <a:ext cx="11768666" cy="5063066"/>
          </a:xfrm>
        </p:spPr>
        <p:txBody>
          <a:bodyPr>
            <a:normAutofit/>
          </a:bodyPr>
          <a:lstStyle/>
          <a:p>
            <a:r>
              <a:t>1. FarmEazy project presentation and product workflow supplied by the project team.</a:t>
            </a:r>
          </a:p>
          <a:p>
            <a:r>
              <a:t>2. FarmEazy local system walkthrough: http://localhost:3000</a:t>
            </a:r>
          </a:p>
          <a:p>
            <a:r>
              <a:t>3. FarmEazy feature areas: marketplace booking, GPS Radar, Farm Pooling, Smart Fuel Estimator, and AI Crop Doctor.</a:t>
            </a:r>
          </a:p>
          <a:p/>
          <a:p>
            <a:r>
              <a:t>Note: All project-specific metrics and technical details in this deck are reproduced or summarized from the supplied FarmEazy presentation.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937F9A-A8B2-4585-AF5C-836578C27FF9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021" y="2672366"/>
            <a:ext cx="8911687" cy="128089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sz="48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Thank you</a:t>
            </a:r>
            <a:endParaRPr sz="48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690B04-9E24-454C-B0F9-E577D591EBB3}" type="datetime1">
              <a:rPr/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819DD-EF02-491D-87CC-F9716E9DCF1F}" type="slidenum">
              <a:rPr/>
            </a:fld>
            <a:endParaRPr/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476500" y="4084955"/>
            <a:ext cx="7239000" cy="1439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defRPr>
            </a:defPPr>
          </a:lstStyle>
          <a:p>
            <a:pPr algn="ctr">
              <a:def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defRPr>
            </a:pPr>
            <a:r>
              <a: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rPr>
              <a:t>FarmEazy</a:t>
            </a:r>
            <a:endParaRPr sz="1800">
              <a:solidFill>
                <a:srgbClr val="262626"/>
              </a:solidFill>
              <a:latin typeface="Gill Sans MT" panose="020B0502020104020203"/>
              <a:ea typeface="Gill Sans MT" panose="020B0502020104020203"/>
              <a:cs typeface="Gill Sans MT" panose="020B0502020104020203"/>
            </a:endParaRPr>
          </a:p>
          <a:p>
            <a:pPr algn="ctr">
              <a:def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defRPr>
            </a:pPr>
            <a:r>
              <a: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rPr>
              <a:t>On-demand, affordable, and accessible farm machinery</a:t>
            </a:r>
            <a:endParaRPr sz="1800">
              <a:solidFill>
                <a:srgbClr val="262626"/>
              </a:solidFill>
              <a:latin typeface="Gill Sans MT" panose="020B0502020104020203"/>
              <a:ea typeface="Gill Sans MT" panose="020B0502020104020203"/>
              <a:cs typeface="Gill Sans MT" panose="020B0502020104020203"/>
            </a:endParaRPr>
          </a:p>
          <a:p>
            <a:endParaRPr sz="1800"/>
          </a:p>
          <a:p>
            <a:pPr algn="ctr">
              <a:def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defRPr>
            </a:pPr>
            <a:r>
              <a: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rPr>
              <a:t>Live portal: http://localhost:3000</a:t>
            </a:r>
            <a:endParaRPr sz="1800">
              <a:solidFill>
                <a:srgbClr val="262626"/>
              </a:solidFill>
              <a:latin typeface="Gill Sans MT" panose="020B0502020104020203"/>
              <a:ea typeface="Gill Sans MT" panose="020B0502020104020203"/>
              <a:cs typeface="Gill Sans MT" panose="020B0502020104020203"/>
            </a:endParaRPr>
          </a:p>
          <a:p>
            <a:pPr algn="ctr">
              <a:def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defRPr>
            </a:pPr>
            <a:r>
              <a:rPr sz="1800">
                <a:solidFill>
                  <a:srgbClr val="262626"/>
                </a:solidFill>
                <a:latin typeface="Gill Sans MT" panose="020B0502020104020203"/>
                <a:ea typeface="Gill Sans MT" panose="020B0502020104020203"/>
                <a:cs typeface="Gill Sans MT" panose="020B0502020104020203"/>
              </a:rPr>
              <a:t>Demo and Q&amp;A</a:t>
            </a:r>
            <a:endParaRPr sz="1800">
              <a:solidFill>
                <a:srgbClr val="262626"/>
              </a:solidFill>
              <a:latin typeface="Gill Sans MT" panose="020B0502020104020203"/>
              <a:ea typeface="Gill Sans MT" panose="020B0502020104020203"/>
              <a:cs typeface="Gill Sans MT" panose="020B05020201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3000"/>
                <a:satMod val="107000"/>
              </a:schemeClr>
            </a:gs>
            <a:gs pos="100000">
              <a:schemeClr val="phClr">
                <a:tint val="82000"/>
                <a:lumMod val="103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lumMod val="102000"/>
                <a:satMod val="100000"/>
              </a:schemeClr>
            </a:gs>
            <a:gs pos="50000">
              <a:schemeClr val="phClr">
                <a:shade val="100000"/>
                <a:lumMod val="100000"/>
                <a:satMod val="103000"/>
              </a:schemeClr>
            </a:gs>
            <a:gs pos="100000">
              <a:schemeClr val="phClr">
                <a:shade val="93000"/>
                <a:lumMod val="99000"/>
                <a:satMod val="11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lumMod val="120000"/>
                <a:satMod val="185000"/>
              </a:schemeClr>
            </a:gs>
            <a:gs pos="100000">
              <a:schemeClr val="phClr">
                <a:tint val="96000"/>
                <a:shade val="95000"/>
                <a:lumMod val="80000"/>
                <a:satMod val="215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3000"/>
                <a:satMod val="107000"/>
              </a:schemeClr>
            </a:gs>
            <a:gs pos="100000">
              <a:schemeClr val="phClr">
                <a:tint val="82000"/>
                <a:lumMod val="103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lumMod val="102000"/>
                <a:satMod val="100000"/>
              </a:schemeClr>
            </a:gs>
            <a:gs pos="50000">
              <a:schemeClr val="phClr">
                <a:shade val="100000"/>
                <a:lumMod val="100000"/>
                <a:satMod val="103000"/>
              </a:schemeClr>
            </a:gs>
            <a:gs pos="100000">
              <a:schemeClr val="phClr">
                <a:shade val="93000"/>
                <a:lumMod val="99000"/>
                <a:satMod val="11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317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lumMod val="120000"/>
                <a:satMod val="185000"/>
              </a:schemeClr>
            </a:gs>
            <a:gs pos="100000">
              <a:schemeClr val="phClr">
                <a:tint val="96000"/>
                <a:shade val="95000"/>
                <a:lumMod val="80000"/>
                <a:satMod val="215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3920</Words>
  <Application>WPS Presentation</Application>
  <PresentationFormat>Converted Presentation</PresentationFormat>
  <Paragraphs>153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Times New Roman</vt:lpstr>
      <vt:lpstr>Gill Sans MT</vt:lpstr>
      <vt:lpstr>Microsoft YaHei</vt:lpstr>
      <vt:lpstr>Arial Unicode MS</vt:lpstr>
      <vt:lpstr>Calibri</vt:lpstr>
      <vt:lpstr>Parcel</vt:lpstr>
      <vt:lpstr>Topic: Farm Machinery Rental Marketplace</vt:lpstr>
      <vt:lpstr>Outline</vt:lpstr>
      <vt:lpstr>Introduction</vt:lpstr>
      <vt:lpstr>Problem Statement &amp; Objectives</vt:lpstr>
      <vt:lpstr>Methodology &amp; System Architecture</vt:lpstr>
      <vt:lpstr>Implementation &amp; Technical Tools</vt:lpstr>
      <vt:lpstr>Experiments and Results</vt:lpstr>
      <vt:lpstr>Conclusion and Future Scope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FarmEazyPresentationonTopic: Farm Machinery Rental Marketplace</dc:title>
  <dc:creator>Walnut Exporter</dc:creator>
  <cp:lastModifiedBy>cheeta rathore</cp:lastModifiedBy>
  <cp:revision>1</cp:revision>
  <dcterms:created xsi:type="dcterms:W3CDTF">2026-10-22T08:25:48Z</dcterms:created>
  <dcterms:modified xsi:type="dcterms:W3CDTF">2026-10-22T08:25:48Z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714E07E4F4244C1F879FF7DF6AE0A898_12</vt:lpwstr>
  </property>
  <property fmtid="{D5CDD505-2E9C-101B-9397-08002B2CF9AE}" pid="3" name="KSOProductBuildVer">
    <vt:lpwstr>1033-12.1.0.29162</vt:lpwstr>
  </property>
</Properties>
</file>